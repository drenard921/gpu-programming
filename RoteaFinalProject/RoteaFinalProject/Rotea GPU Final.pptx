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3" autoAdjust="0"/>
    <p:restoredTop sz="94610"/>
  </p:normalViewPr>
  <p:slideViewPr>
    <p:cSldViewPr snapToGrid="0" snapToObjects="1">
      <p:cViewPr>
        <p:scale>
          <a:sx n="110" d="100"/>
          <a:sy n="110" d="100"/>
        </p:scale>
        <p:origin x="62" y="-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1596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510528"/>
            <a:ext cx="11274552" cy="0"/>
          </a:xfrm>
          <a:prstGeom prst="line">
            <a:avLst/>
          </a:prstGeom>
          <a:noFill/>
          <a:ln w="6350">
            <a:solidFill>
              <a:srgbClr val="2631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74536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GPU-Accelerated Counterflow Centrifugation Simulation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5212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8FAFC"/>
                </a:solidFill>
              </a:rPr>
              <a:t>Rotea Cell Washer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8FAFC"/>
                </a:solidFill>
              </a:rPr>
              <a:t>GPU Simulation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03504" y="203911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A7B0BF"/>
                </a:solidFill>
              </a:rPr>
              <a:t>CUDA/OpenGL particle model for counterflow centrifugation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3504" y="605332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B0BF"/>
                </a:solidFill>
              </a:rPr>
              <a:t>Dylan Renard • EN.605.617 Introduction to GPU Programming</a:t>
            </a:r>
            <a:endParaRPr lang="en-US" sz="1100" dirty="0"/>
          </a:p>
        </p:txBody>
      </p:sp>
      <p:pic>
        <p:nvPicPr>
          <p:cNvPr id="5" name="Image 0" descr="/mnt/data/rofea_cuda_opengl_title.png"/>
          <p:cNvPicPr>
            <a:picLocks noChangeAspect="1"/>
          </p:cNvPicPr>
          <p:nvPr/>
        </p:nvPicPr>
        <p:blipFill>
          <a:blip r:embed="rId3"/>
          <a:srcRect l="14336" r="14336"/>
          <a:stretch/>
        </p:blipFill>
        <p:spPr>
          <a:xfrm>
            <a:off x="6263640" y="731520"/>
            <a:ext cx="5440680" cy="5257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</a:rPr>
              <a:t>Agenda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7B0BF"/>
                </a:solidFill>
              </a:rPr>
              <a:t>Instrument context → model → implementation → benchmark interpretation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68680" y="12344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62033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33502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00200" y="130759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8FAFC"/>
                </a:solidFill>
              </a:rPr>
              <a:t>Rotea instrument and CFC protocol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68680" y="198424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62033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20848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00200" y="20574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8FAFC"/>
                </a:solidFill>
              </a:rPr>
              <a:t>Physics abstraction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68680" y="273405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62033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28346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00200" y="280720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8FAFC"/>
                </a:solidFill>
              </a:rPr>
              <a:t>CPU/CUDA/OpenGL design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68680" y="348386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62033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35844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00200" y="3557016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8FAFC"/>
                </a:solidFill>
              </a:rPr>
              <a:t>Visual benchmark results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68680" y="423367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62033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433425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00200" y="4306824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8FAFC"/>
                </a:solidFill>
              </a:rPr>
              <a:t>Headless benchmark results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68680" y="49834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62033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8680" y="508406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00200" y="505663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8FAFC"/>
                </a:solidFill>
              </a:rPr>
              <a:t>Lessons learned and future work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</a:rPr>
              <a:t>Project thesis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7B0BF"/>
                </a:solidFill>
              </a:rPr>
              <a:t>A GPU final project should test both implementation and architecture.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2514600" cy="987552"/>
          </a:xfrm>
          <a:prstGeom prst="roundRect">
            <a:avLst>
              <a:gd name="adj" fmla="val 7407"/>
            </a:avLst>
          </a:prstGeom>
          <a:solidFill>
            <a:srgbClr val="111827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5544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4D399"/>
                </a:solidFill>
              </a:rPr>
              <a:t>3.78×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58952" y="2039112"/>
            <a:ext cx="2368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A7B0BF"/>
                </a:solidFill>
              </a:rPr>
              <a:t>headless CUDA speedup at 200k particles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474720" y="1417320"/>
            <a:ext cx="2194560" cy="987552"/>
          </a:xfrm>
          <a:prstGeom prst="roundRect">
            <a:avLst>
              <a:gd name="adj" fmla="val 7407"/>
            </a:avLst>
          </a:prstGeom>
          <a:solidFill>
            <a:srgbClr val="111827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0" y="1554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D3EE"/>
                </a:solidFill>
              </a:rPr>
              <a:t>0 ms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547872" y="2039112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A7B0BF"/>
                </a:solidFill>
              </a:rPr>
              <a:t>render time in headless benchmark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89320" y="1417320"/>
            <a:ext cx="2331720" cy="987552"/>
          </a:xfrm>
          <a:prstGeom prst="roundRect">
            <a:avLst>
              <a:gd name="adj" fmla="val 7407"/>
            </a:avLst>
          </a:prstGeom>
          <a:solidFill>
            <a:srgbClr val="111827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89320" y="1554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</a:rPr>
              <a:t>CPU↔GPU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062472" y="2039112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A7B0BF"/>
                </a:solidFill>
              </a:rPr>
              <a:t>copies limit live visual CUDA mode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641080" y="1417320"/>
            <a:ext cx="2377440" cy="987552"/>
          </a:xfrm>
          <a:prstGeom prst="roundRect">
            <a:avLst>
              <a:gd name="adj" fmla="val 7407"/>
            </a:avLst>
          </a:prstGeom>
          <a:solidFill>
            <a:srgbClr val="111827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41080" y="15544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ACC15"/>
                </a:solidFill>
              </a:rPr>
              <a:t>CFC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714232" y="2039112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A7B0BF"/>
                </a:solidFill>
              </a:rPr>
              <a:t>Rotea-inspired force model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68680" y="3017520"/>
            <a:ext cx="1051560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2D3EE"/>
                </a:solidFill>
              </a:rPr>
              <a:t>• </a:t>
            </a:r>
            <a:r>
              <a:rPr lang="en-US" sz="1900" dirty="0">
                <a:solidFill>
                  <a:srgbClr val="F8FAFC"/>
                </a:solidFill>
              </a:rPr>
              <a:t>The visual app shows the complete interactive system, including OpenGL overhead.
</a:t>
            </a:r>
            <a:r>
              <a:rPr lang="en-US" sz="1900" b="1" dirty="0">
                <a:solidFill>
                  <a:srgbClr val="22D3EE"/>
                </a:solidFill>
              </a:rPr>
              <a:t>• </a:t>
            </a:r>
            <a:r>
              <a:rPr lang="en-US" sz="1900" dirty="0">
                <a:solidFill>
                  <a:srgbClr val="F8FAFC"/>
                </a:solidFill>
              </a:rPr>
              <a:t>The headless benchmark isolates particle-update cost and better measures CUDA usefulness.
</a:t>
            </a:r>
            <a:r>
              <a:rPr lang="en-US" sz="1900" b="1" dirty="0">
                <a:solidFill>
                  <a:srgbClr val="22D3EE"/>
                </a:solidFill>
              </a:rPr>
              <a:t>• </a:t>
            </a:r>
            <a:r>
              <a:rPr lang="en-US" sz="1900" dirty="0">
                <a:solidFill>
                  <a:srgbClr val="F8FAFC"/>
                </a:solidFill>
              </a:rPr>
              <a:t>The final lesson is not simply “GPU faster”; it is when CUDA is worth using.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</a:rPr>
              <a:t>Rotea instrument reference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7B0BF"/>
                </a:solidFill>
              </a:rPr>
              <a:t>Front/rear instrument layout from the original context slides.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11183112" cy="5074920"/>
          </a:xfrm>
          <a:prstGeom prst="roundRect">
            <a:avLst>
              <a:gd name="adj" fmla="val 901"/>
            </a:avLst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original_slide_png/slide-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399" y="1307592"/>
            <a:ext cx="8764722" cy="492861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</a:rPr>
              <a:t>Single-use kit and CFC chamber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7B0BF"/>
                </a:solidFill>
              </a:rPr>
              <a:t>The modeled particle region corresponds to the CFC chamber and tubing flow path.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11183112" cy="5074920"/>
          </a:xfrm>
          <a:prstGeom prst="roundRect">
            <a:avLst>
              <a:gd name="adj" fmla="val 901"/>
            </a:avLst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original_slide_png/slide-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2115" y="1307592"/>
            <a:ext cx="8764722" cy="492861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</a:rPr>
              <a:t>Protocol design context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7B0BF"/>
                </a:solidFill>
              </a:rPr>
              <a:t>Protocols cycle through loading, wash/concentration behavior, and final recovery/output.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11183112" cy="5074920"/>
          </a:xfrm>
          <a:prstGeom prst="roundRect">
            <a:avLst>
              <a:gd name="adj" fmla="val 901"/>
            </a:avLst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original_slide_png/slide-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49425"/>
            <a:ext cx="11183112" cy="62885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</a:rPr>
              <a:t>Counterflow centrifugation forces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7B0BF"/>
                </a:solidFill>
              </a:rPr>
              <a:t>Particle position is controlled by opposing rotation and flow forces.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11183112" cy="5074920"/>
          </a:xfrm>
          <a:prstGeom prst="roundRect">
            <a:avLst>
              <a:gd name="adj" fmla="val 901"/>
            </a:avLst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original_slide_png/slide-07.png"/>
          <p:cNvPicPr>
            <a:picLocks noChangeAspect="1"/>
          </p:cNvPicPr>
          <p:nvPr/>
        </p:nvPicPr>
        <p:blipFill>
          <a:blip r:embed="rId3"/>
          <a:srcRect l="3213" t="26841" r="2733" b="14304"/>
          <a:stretch>
            <a:fillRect/>
          </a:stretch>
        </p:blipFill>
        <p:spPr>
          <a:xfrm>
            <a:off x="955045" y="1988820"/>
            <a:ext cx="10134710" cy="3566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</a:rPr>
              <a:t>CFC interpretation used for the simulator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7B0BF"/>
                </a:solidFill>
              </a:rPr>
              <a:t>Larger/denser particles tend to remain in the fluidized bed; smaller/lighter particles elutriate.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11183112" cy="5074920"/>
          </a:xfrm>
          <a:prstGeom prst="roundRect">
            <a:avLst>
              <a:gd name="adj" fmla="val 901"/>
            </a:avLst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69" y="1307592"/>
            <a:ext cx="11013814" cy="492861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</a:rPr>
              <a:t>Why make a Rotea visualization?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7B0BF"/>
                </a:solidFill>
              </a:rPr>
              <a:t>A simulator helps reason about process behavior before using real material.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4846320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623560" y="1234440"/>
            <a:ext cx="6035040" cy="4800600"/>
          </a:xfrm>
          <a:prstGeom prst="roundRect">
            <a:avLst>
              <a:gd name="adj" fmla="val 1524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989320" y="1645920"/>
            <a:ext cx="5303520" cy="3840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</a:rPr>
              <a:t>• </a:t>
            </a:r>
            <a:r>
              <a:rPr lang="en-US" sz="1800" dirty="0">
                <a:solidFill>
                  <a:srgbClr val="F8FAFC"/>
                </a:solidFill>
              </a:rPr>
              <a:t>CFC protocols involve dynamic flow, G-force, geometry, and particle properties.
</a:t>
            </a:r>
            <a:r>
              <a:rPr lang="en-US" sz="1800" b="1" dirty="0">
                <a:solidFill>
                  <a:srgbClr val="22D3EE"/>
                </a:solidFill>
              </a:rPr>
              <a:t>• </a:t>
            </a:r>
            <a:r>
              <a:rPr lang="en-US" sz="1800" dirty="0">
                <a:solidFill>
                  <a:srgbClr val="F8FAFC"/>
                </a:solidFill>
              </a:rPr>
              <a:t>Real-world process development consumes reagents, consumables, and instrument time.
</a:t>
            </a:r>
            <a:r>
              <a:rPr lang="en-US" sz="1800" b="1" dirty="0">
                <a:solidFill>
                  <a:srgbClr val="22D3EE"/>
                </a:solidFill>
              </a:rPr>
              <a:t>• </a:t>
            </a:r>
            <a:r>
              <a:rPr lang="en-US" sz="1800" dirty="0">
                <a:solidFill>
                  <a:srgbClr val="F8FAFC"/>
                </a:solidFill>
              </a:rPr>
              <a:t>Particle simulation is embarrassingly parallel, which makes it a natural CUDA target.
</a:t>
            </a:r>
            <a:r>
              <a:rPr lang="en-US" sz="1800" b="1" dirty="0">
                <a:solidFill>
                  <a:srgbClr val="22D3EE"/>
                </a:solidFill>
              </a:rPr>
              <a:t>• </a:t>
            </a:r>
            <a:r>
              <a:rPr lang="en-US" sz="1800" dirty="0">
                <a:solidFill>
                  <a:srgbClr val="F8FAFC"/>
                </a:solidFill>
              </a:rPr>
              <a:t>The goal is qualitative scientific visualization and performance benchmarking, not validated process prediction.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5" name="Image 0" descr="/mnt/data/original_slide_png/slide-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31" y="415614"/>
            <a:ext cx="11205442" cy="63010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</a:rPr>
              <a:t>Development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7B0BF"/>
                </a:solidFill>
              </a:rPr>
              <a:t>Three core components and the key CPU/GPU distinction.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828800" cy="969264"/>
          </a:xfrm>
          <a:prstGeom prst="roundRect">
            <a:avLst>
              <a:gd name="adj" fmla="val 1887"/>
            </a:avLst>
          </a:prstGeom>
          <a:solidFill>
            <a:srgbClr val="162033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737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</a:rPr>
              <a:t>Component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359152" y="1417320"/>
            <a:ext cx="2057400" cy="969264"/>
          </a:xfrm>
          <a:prstGeom prst="roundRect">
            <a:avLst>
              <a:gd name="adj" fmla="val 1887"/>
            </a:avLst>
          </a:prstGeom>
          <a:solidFill>
            <a:srgbClr val="162033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404872" y="1463040"/>
            <a:ext cx="1965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</a:rPr>
              <a:t>File(s)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43984" y="1417320"/>
            <a:ext cx="2834640" cy="969264"/>
          </a:xfrm>
          <a:prstGeom prst="roundRect">
            <a:avLst>
              <a:gd name="adj" fmla="val 1887"/>
            </a:avLst>
          </a:prstGeom>
          <a:solidFill>
            <a:srgbClr val="162033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489704" y="1463040"/>
            <a:ext cx="2743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</a:rPr>
              <a:t>Role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06056" y="1417320"/>
            <a:ext cx="4389120" cy="969264"/>
          </a:xfrm>
          <a:prstGeom prst="roundRect">
            <a:avLst>
              <a:gd name="adj" fmla="val 1887"/>
            </a:avLst>
          </a:prstGeom>
          <a:solidFill>
            <a:srgbClr val="162033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51776" y="1463040"/>
            <a:ext cx="4297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</a:rPr>
              <a:t>Key design difference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404872"/>
            <a:ext cx="1828800" cy="969264"/>
          </a:xfrm>
          <a:prstGeom prst="roundRect">
            <a:avLst>
              <a:gd name="adj" fmla="val 1887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2450592"/>
            <a:ext cx="1737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</a:rPr>
              <a:t>Rendering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359152" y="2404872"/>
            <a:ext cx="2057400" cy="969264"/>
          </a:xfrm>
          <a:prstGeom prst="roundRect">
            <a:avLst>
              <a:gd name="adj" fmla="val 1887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404872" y="2450592"/>
            <a:ext cx="1965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</a:rPr>
              <a:t>renderer.cpp / renderer.h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43984" y="2404872"/>
            <a:ext cx="2834640" cy="969264"/>
          </a:xfrm>
          <a:prstGeom prst="roundRect">
            <a:avLst>
              <a:gd name="adj" fmla="val 1887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489704" y="2450592"/>
            <a:ext cx="2743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</a:rPr>
              <a:t>Draws conical chamber and particles with OpenGL.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06056" y="2404872"/>
            <a:ext cx="4389120" cy="969264"/>
          </a:xfrm>
          <a:prstGeom prst="roundRect">
            <a:avLst>
              <a:gd name="adj" fmla="val 1887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51776" y="2450592"/>
            <a:ext cx="4297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</a:rPr>
              <a:t>Shared by CPU and CUDA; visual runtime includes render, swap, and polling overhead.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3392424"/>
            <a:ext cx="1828800" cy="969264"/>
          </a:xfrm>
          <a:prstGeom prst="roundRect">
            <a:avLst>
              <a:gd name="adj" fmla="val 1887"/>
            </a:avLst>
          </a:prstGeom>
          <a:solidFill>
            <a:srgbClr val="111827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3438144"/>
            <a:ext cx="1737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</a:rPr>
              <a:t>CPU implementation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359152" y="3392424"/>
            <a:ext cx="2057400" cy="969264"/>
          </a:xfrm>
          <a:prstGeom prst="roundRect">
            <a:avLst>
              <a:gd name="adj" fmla="val 1887"/>
            </a:avLst>
          </a:prstGeom>
          <a:solidFill>
            <a:srgbClr val="111827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404872" y="3438144"/>
            <a:ext cx="1965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</a:rPr>
              <a:t>sim_cpu.cpp / sim_cpu.h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443984" y="3392424"/>
            <a:ext cx="2834640" cy="969264"/>
          </a:xfrm>
          <a:prstGeom prst="roundRect">
            <a:avLst>
              <a:gd name="adj" fmla="val 1887"/>
            </a:avLst>
          </a:prstGeom>
          <a:solidFill>
            <a:srgbClr val="111827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489704" y="3438144"/>
            <a:ext cx="2743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</a:rPr>
              <a:t>Updates process state and particle motion on CPU.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306056" y="3392424"/>
            <a:ext cx="4389120" cy="969264"/>
          </a:xfrm>
          <a:prstGeom prst="roundRect">
            <a:avLst>
              <a:gd name="adj" fmla="val 1887"/>
            </a:avLst>
          </a:prstGeom>
          <a:solidFill>
            <a:srgbClr val="111827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351776" y="3438144"/>
            <a:ext cx="4297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</a:rPr>
              <a:t>Directly updates host-side particle vector; simple and reliable baseline.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" y="4379976"/>
            <a:ext cx="1828800" cy="969264"/>
          </a:xfrm>
          <a:prstGeom prst="roundRect">
            <a:avLst>
              <a:gd name="adj" fmla="val 1887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8640" y="4425696"/>
            <a:ext cx="1737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</a:rPr>
              <a:t>GPU implementation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359152" y="4379976"/>
            <a:ext cx="2057400" cy="969264"/>
          </a:xfrm>
          <a:prstGeom prst="roundRect">
            <a:avLst>
              <a:gd name="adj" fmla="val 1887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404872" y="4425696"/>
            <a:ext cx="1965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</a:rPr>
              <a:t>simulation.cu / simulation.h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443984" y="4379976"/>
            <a:ext cx="2834640" cy="969264"/>
          </a:xfrm>
          <a:prstGeom prst="roundRect">
            <a:avLst>
              <a:gd name="adj" fmla="val 1887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489704" y="4425696"/>
            <a:ext cx="2743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</a:rPr>
              <a:t>Updates particles with one logical CUDA thread per particle.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306056" y="4379976"/>
            <a:ext cx="4389120" cy="969264"/>
          </a:xfrm>
          <a:prstGeom prst="roundRect">
            <a:avLst>
              <a:gd name="adj" fmla="val 1887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351776" y="4425696"/>
            <a:ext cx="4297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</a:rPr>
              <a:t>Parallel update, but live visual mode copies CPU→GPU→CPU so OpenGL can render.</a:t>
            </a:r>
            <a:endParaRPr lang="en-US" sz="105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</a:rPr>
              <a:t>Runtime modes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7B0BF"/>
                </a:solidFill>
              </a:rPr>
              <a:t>The same project supports demo, benchmarking, and offline replay workflows.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1965960" cy="804672"/>
          </a:xfrm>
          <a:prstGeom prst="roundRect">
            <a:avLst>
              <a:gd name="adj" fmla="val 2273"/>
            </a:avLst>
          </a:prstGeom>
          <a:solidFill>
            <a:srgbClr val="162033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Mode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79192" y="1325880"/>
            <a:ext cx="2971800" cy="804672"/>
          </a:xfrm>
          <a:prstGeom prst="roundRect">
            <a:avLst>
              <a:gd name="adj" fmla="val 2273"/>
            </a:avLst>
          </a:prstGeom>
          <a:solidFill>
            <a:srgbClr val="162033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24912" y="13716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Command idea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78424" y="1325880"/>
            <a:ext cx="5760720" cy="804672"/>
          </a:xfrm>
          <a:prstGeom prst="roundRect">
            <a:avLst>
              <a:gd name="adj" fmla="val 2273"/>
            </a:avLst>
          </a:prstGeom>
          <a:solidFill>
            <a:srgbClr val="162033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724144" y="137160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What it measures / demonstrates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148840"/>
            <a:ext cx="1965960" cy="804672"/>
          </a:xfrm>
          <a:prstGeom prst="roundRect">
            <a:avLst>
              <a:gd name="adj" fmla="val 2273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219456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Visual CPU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79192" y="2148840"/>
            <a:ext cx="2971800" cy="804672"/>
          </a:xfrm>
          <a:prstGeom prst="roundRect">
            <a:avLst>
              <a:gd name="adj" fmla="val 2273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24912" y="21945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--mode cpu --duration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78424" y="2148840"/>
            <a:ext cx="5760720" cy="804672"/>
          </a:xfrm>
          <a:prstGeom prst="roundRect">
            <a:avLst>
              <a:gd name="adj" fmla="val 2273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724144" y="219456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Full OpenGL application with CPU particle updates.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2971800"/>
            <a:ext cx="1965960" cy="804672"/>
          </a:xfrm>
          <a:prstGeom prst="roundRect">
            <a:avLst>
              <a:gd name="adj" fmla="val 2273"/>
            </a:avLst>
          </a:prstGeom>
          <a:solidFill>
            <a:srgbClr val="111827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301752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Visual CUDA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679192" y="2971800"/>
            <a:ext cx="2971800" cy="804672"/>
          </a:xfrm>
          <a:prstGeom prst="roundRect">
            <a:avLst>
              <a:gd name="adj" fmla="val 2273"/>
            </a:avLst>
          </a:prstGeom>
          <a:solidFill>
            <a:srgbClr val="111827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24912" y="30175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--mode cuda --duration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78424" y="2971800"/>
            <a:ext cx="5760720" cy="804672"/>
          </a:xfrm>
          <a:prstGeom prst="roundRect">
            <a:avLst>
              <a:gd name="adj" fmla="val 2273"/>
            </a:avLst>
          </a:prstGeom>
          <a:solidFill>
            <a:srgbClr val="111827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724144" y="30175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Full OpenGL application with live CUDA update path.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3794760"/>
            <a:ext cx="1965960" cy="804672"/>
          </a:xfrm>
          <a:prstGeom prst="roundRect">
            <a:avLst>
              <a:gd name="adj" fmla="val 2273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31520" y="384048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Headless CPU/CUDA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679192" y="3794760"/>
            <a:ext cx="2971800" cy="804672"/>
          </a:xfrm>
          <a:prstGeom prst="roundRect">
            <a:avLst>
              <a:gd name="adj" fmla="val 2273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24912" y="384048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--headless --steps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78424" y="3794760"/>
            <a:ext cx="5760720" cy="804672"/>
          </a:xfrm>
          <a:prstGeom prst="roundRect">
            <a:avLst>
              <a:gd name="adj" fmla="val 2273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724144" y="384048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Update loop only; no OpenGL window or rendering.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5800" y="4617720"/>
            <a:ext cx="1965960" cy="804672"/>
          </a:xfrm>
          <a:prstGeom prst="roundRect">
            <a:avLst>
              <a:gd name="adj" fmla="val 2273"/>
            </a:avLst>
          </a:prstGeom>
          <a:solidFill>
            <a:srgbClr val="111827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31520" y="46634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Replay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679192" y="4617720"/>
            <a:ext cx="2971800" cy="804672"/>
          </a:xfrm>
          <a:prstGeom prst="roundRect">
            <a:avLst>
              <a:gd name="adj" fmla="val 2273"/>
            </a:avLst>
          </a:prstGeom>
          <a:solidFill>
            <a:srgbClr val="111827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724912" y="46634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--mode replay --replay frames.bin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678424" y="4617720"/>
            <a:ext cx="5760720" cy="804672"/>
          </a:xfrm>
          <a:prstGeom prst="roundRect">
            <a:avLst>
              <a:gd name="adj" fmla="val 2273"/>
            </a:avLst>
          </a:prstGeom>
          <a:solidFill>
            <a:srgbClr val="111827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724144" y="46634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Visualizes precomputed frames from CUDA frame generator.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14400" y="5486400"/>
            <a:ext cx="103327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• </a:t>
            </a:r>
            <a:r>
              <a:rPr lang="en-US" sz="1500" dirty="0">
                <a:solidFill>
                  <a:srgbClr val="F8FAFC"/>
                </a:solidFill>
              </a:rPr>
              <a:t>Visual mode answers: how fast is the full interactive application?
</a:t>
            </a:r>
            <a:r>
              <a:rPr lang="en-US" sz="1500" b="1" dirty="0">
                <a:solidFill>
                  <a:srgbClr val="22D3EE"/>
                </a:solidFill>
              </a:rPr>
              <a:t>• </a:t>
            </a:r>
            <a:r>
              <a:rPr lang="en-US" sz="1500" dirty="0">
                <a:solidFill>
                  <a:srgbClr val="F8FAFC"/>
                </a:solidFill>
              </a:rPr>
              <a:t>Headless mode answers: how fast is the particle update without rendering?</a:t>
            </a:r>
            <a:endParaRPr lang="en-US" sz="15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</a:rPr>
              <a:t>Live CUDA data path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7B0BF"/>
                </a:solidFill>
              </a:rPr>
              <a:t>The implementation is correct, but the visual architecture still pays transfer/sync cost.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651760" y="3136392"/>
            <a:ext cx="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886200" y="3136392"/>
            <a:ext cx="4572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080760" y="3136392"/>
            <a:ext cx="18288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60920" y="3136392"/>
            <a:ext cx="9144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778240" y="3136392"/>
            <a:ext cx="9144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469880" y="3136392"/>
            <a:ext cx="13716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85800" y="2788920"/>
            <a:ext cx="1920240" cy="713232"/>
          </a:xfrm>
          <a:prstGeom prst="roundRect">
            <a:avLst>
              <a:gd name="adj" fmla="val 10256"/>
            </a:avLst>
          </a:prstGeom>
          <a:solidFill>
            <a:srgbClr val="162033"/>
          </a:solidFill>
          <a:ln w="1651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28986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</a:rPr>
              <a:t>Host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</a:rPr>
              <a:t>Particles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606040" y="2788920"/>
            <a:ext cx="1234440" cy="713232"/>
          </a:xfrm>
          <a:prstGeom prst="roundRect">
            <a:avLst>
              <a:gd name="adj" fmla="val 10256"/>
            </a:avLst>
          </a:prstGeom>
          <a:solidFill>
            <a:srgbClr val="162033"/>
          </a:solidFill>
          <a:ln w="1651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51760" y="289864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</a:rPr>
              <a:t>H2D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</a:rPr>
              <a:t>copy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977640" y="2788920"/>
            <a:ext cx="2057400" cy="713232"/>
          </a:xfrm>
          <a:prstGeom prst="roundRect">
            <a:avLst>
              <a:gd name="adj" fmla="val 10256"/>
            </a:avLst>
          </a:prstGeom>
          <a:solidFill>
            <a:srgbClr val="162033"/>
          </a:solidFill>
          <a:ln w="1651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023360" y="289864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</a:rPr>
              <a:t>CUDA kernel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</a:rPr>
              <a:t>grid-stride loop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2788920"/>
            <a:ext cx="1005840" cy="713232"/>
          </a:xfrm>
          <a:prstGeom prst="roundRect">
            <a:avLst>
              <a:gd name="adj" fmla="val 10256"/>
            </a:avLst>
          </a:prstGeom>
          <a:solidFill>
            <a:srgbClr val="162033"/>
          </a:solidFill>
          <a:ln w="1651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55080" y="28986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</a:rPr>
              <a:t>sync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498080" y="2788920"/>
            <a:ext cx="1234440" cy="713232"/>
          </a:xfrm>
          <a:prstGeom prst="roundRect">
            <a:avLst>
              <a:gd name="adj" fmla="val 10256"/>
            </a:avLst>
          </a:prstGeom>
          <a:solidFill>
            <a:srgbClr val="162033"/>
          </a:solidFill>
          <a:ln w="1651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543800" y="289864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</a:rPr>
              <a:t>D2H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</a:rPr>
              <a:t>copy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915400" y="2788920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162033"/>
          </a:solidFill>
          <a:ln w="1651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961120" y="289864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</a:rPr>
              <a:t>OpenGL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</a:rPr>
              <a:t>render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0652760" y="2788920"/>
            <a:ext cx="1005840" cy="713232"/>
          </a:xfrm>
          <a:prstGeom prst="roundRect">
            <a:avLst>
              <a:gd name="adj" fmla="val 10256"/>
            </a:avLst>
          </a:prstGeom>
          <a:solidFill>
            <a:srgbClr val="162033"/>
          </a:solidFill>
          <a:ln w="1651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698480" y="28986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</a:rPr>
              <a:t>Screen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2960" y="3977640"/>
            <a:ext cx="1051560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</a:rPr>
              <a:t>• </a:t>
            </a:r>
            <a:r>
              <a:rPr lang="en-US" sz="1600" dirty="0">
                <a:solidFill>
                  <a:srgbClr val="F8FAFC"/>
                </a:solidFill>
              </a:rPr>
              <a:t>The CUDA kernel uses one logical thread per particle with a grid-stride loop.
</a:t>
            </a:r>
            <a:r>
              <a:rPr lang="en-US" sz="1600" b="1" dirty="0">
                <a:solidFill>
                  <a:srgbClr val="22D3EE"/>
                </a:solidFill>
              </a:rPr>
              <a:t>• </a:t>
            </a:r>
            <a:r>
              <a:rPr lang="en-US" sz="1600" dirty="0">
                <a:solidFill>
                  <a:srgbClr val="F8FAFC"/>
                </a:solidFill>
              </a:rPr>
              <a:t>A persistent device buffer avoids cudaMalloc/cudaFree every frame.
</a:t>
            </a:r>
            <a:r>
              <a:rPr lang="en-US" sz="1600" b="1" dirty="0">
                <a:solidFill>
                  <a:srgbClr val="22D3EE"/>
                </a:solidFill>
              </a:rPr>
              <a:t>• </a:t>
            </a:r>
            <a:r>
              <a:rPr lang="en-US" sz="1600" dirty="0">
                <a:solidFill>
                  <a:srgbClr val="F8FAFC"/>
                </a:solidFill>
              </a:rPr>
              <a:t>Live visual CUDA mode still copies particles back to CPU because OpenGL consumes host-side data.
</a:t>
            </a:r>
            <a:r>
              <a:rPr lang="en-US" sz="1600" b="1" dirty="0">
                <a:solidFill>
                  <a:srgbClr val="22D3EE"/>
                </a:solidFill>
              </a:rPr>
              <a:t>• </a:t>
            </a:r>
            <a:r>
              <a:rPr lang="en-US" sz="1600" dirty="0">
                <a:solidFill>
                  <a:srgbClr val="F8FAFC"/>
                </a:solidFill>
              </a:rPr>
              <a:t>Future CUDA/OpenGL interop would let CUDA update an OpenGL buffer directly.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</a:rPr>
              <a:t>Benchmark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7B0BF"/>
                </a:solidFill>
              </a:rPr>
              <a:t>Two benchmark modes were needed because they answer different questions.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257800" cy="4389120"/>
          </a:xfrm>
          <a:prstGeom prst="roundRect">
            <a:avLst>
              <a:gd name="adj" fmla="val 1667"/>
            </a:avLst>
          </a:prstGeom>
          <a:solidFill>
            <a:srgbClr val="111827"/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17830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</a:rPr>
              <a:t>Synchronous visual benchmark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4526280" cy="2560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</a:rPr>
              <a:t>• </a:t>
            </a:r>
            <a:r>
              <a:rPr lang="en-US" sz="1600" dirty="0">
                <a:solidFill>
                  <a:srgbClr val="F8FAFC"/>
                </a:solidFill>
              </a:rPr>
              <a:t>Simulation update
</a:t>
            </a:r>
            <a:r>
              <a:rPr lang="en-US" sz="1600" b="1" dirty="0">
                <a:solidFill>
                  <a:srgbClr val="22D3EE"/>
                </a:solidFill>
              </a:rPr>
              <a:t>• </a:t>
            </a:r>
            <a:r>
              <a:rPr lang="en-US" sz="1600" dirty="0">
                <a:solidFill>
                  <a:srgbClr val="F8FAFC"/>
                </a:solidFill>
              </a:rPr>
              <a:t>CUDA transfer and synchronization
</a:t>
            </a:r>
            <a:r>
              <a:rPr lang="en-US" sz="1600" b="1" dirty="0">
                <a:solidFill>
                  <a:srgbClr val="22D3EE"/>
                </a:solidFill>
              </a:rPr>
              <a:t>• </a:t>
            </a:r>
            <a:r>
              <a:rPr lang="en-US" sz="1600" dirty="0">
                <a:solidFill>
                  <a:srgbClr val="F8FAFC"/>
                </a:solidFill>
              </a:rPr>
              <a:t>OpenGL render, swap, and event polling
</a:t>
            </a:r>
            <a:r>
              <a:rPr lang="en-US" sz="1600" b="1" dirty="0">
                <a:solidFill>
                  <a:srgbClr val="22D3EE"/>
                </a:solidFill>
              </a:rPr>
              <a:t>• </a:t>
            </a:r>
            <a:r>
              <a:rPr lang="en-US" sz="1600" dirty="0">
                <a:solidFill>
                  <a:srgbClr val="F8FAFC"/>
                </a:solidFill>
              </a:rPr>
              <a:t>Best for user-visible application behavior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63640" y="1417320"/>
            <a:ext cx="5257800" cy="4389120"/>
          </a:xfrm>
          <a:prstGeom prst="roundRect">
            <a:avLst>
              <a:gd name="adj" fmla="val 1667"/>
            </a:avLst>
          </a:prstGeom>
          <a:solidFill>
            <a:srgbClr val="111827"/>
          </a:solidFill>
          <a:ln w="1524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0" y="17830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4D399"/>
                </a:solidFill>
              </a:rPr>
              <a:t>Headless update benchmark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83680" y="2331720"/>
            <a:ext cx="4526280" cy="2560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</a:rPr>
              <a:t>• </a:t>
            </a:r>
            <a:r>
              <a:rPr lang="en-US" sz="1600" dirty="0">
                <a:solidFill>
                  <a:srgbClr val="F8FAFC"/>
                </a:solidFill>
              </a:rPr>
              <a:t>Fixed number of update steps
</a:t>
            </a:r>
            <a:r>
              <a:rPr lang="en-US" sz="1600" b="1" dirty="0">
                <a:solidFill>
                  <a:srgbClr val="22D3EE"/>
                </a:solidFill>
              </a:rPr>
              <a:t>• </a:t>
            </a:r>
            <a:r>
              <a:rPr lang="en-US" sz="1600" dirty="0">
                <a:solidFill>
                  <a:srgbClr val="F8FAFC"/>
                </a:solidFill>
              </a:rPr>
              <a:t>No OpenGL window
</a:t>
            </a:r>
            <a:r>
              <a:rPr lang="en-US" sz="1600" b="1" dirty="0">
                <a:solidFill>
                  <a:srgbClr val="22D3EE"/>
                </a:solidFill>
              </a:rPr>
              <a:t>• </a:t>
            </a:r>
            <a:r>
              <a:rPr lang="en-US" sz="1600" dirty="0">
                <a:solidFill>
                  <a:srgbClr val="F8FAFC"/>
                </a:solidFill>
              </a:rPr>
              <a:t>Render time effectively zero
</a:t>
            </a:r>
            <a:r>
              <a:rPr lang="en-US" sz="1600" b="1" dirty="0">
                <a:solidFill>
                  <a:srgbClr val="22D3EE"/>
                </a:solidFill>
              </a:rPr>
              <a:t>• </a:t>
            </a:r>
            <a:r>
              <a:rPr lang="en-US" sz="1600" dirty="0">
                <a:solidFill>
                  <a:srgbClr val="F8FAFC"/>
                </a:solidFill>
              </a:rPr>
              <a:t>Best for CPU-vs-CUDA update comparison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3317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8FAFC"/>
                </a:solidFill>
              </a:rPr>
              <a:t>Visual benchmark results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371600" y="315468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A7B0BF"/>
                </a:solidFill>
              </a:rPr>
              <a:t>Full interactive application: update + transfer/sync + render/swap/poll.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</a:rPr>
              <a:t>Visual FPS: CPU vs CUDA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7B0BF"/>
                </a:solidFill>
              </a:rPr>
              <a:t>CUDA was slightly faster at smaller counts, but end-to-end benefit shrank as rendering dominated.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7406640" cy="5257800"/>
          </a:xfrm>
          <a:prstGeom prst="roundRect">
            <a:avLst>
              <a:gd name="adj" fmla="val 870"/>
            </a:avLst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report_figures/fig_visual_f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639519"/>
            <a:ext cx="7260336" cy="43562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75320" y="1417320"/>
            <a:ext cx="324612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• </a:t>
            </a:r>
            <a:r>
              <a:rPr lang="en-US" sz="1500" dirty="0">
                <a:solidFill>
                  <a:srgbClr val="F8FAFC"/>
                </a:solidFill>
              </a:rPr>
              <a:t>Visual FPS falls as particle count increases.
</a:t>
            </a:r>
            <a:r>
              <a:rPr lang="en-US" sz="1500" b="1" dirty="0">
                <a:solidFill>
                  <a:srgbClr val="22D3EE"/>
                </a:solidFill>
              </a:rPr>
              <a:t>• </a:t>
            </a:r>
            <a:r>
              <a:rPr lang="en-US" sz="1500" dirty="0">
                <a:solidFill>
                  <a:srgbClr val="F8FAFC"/>
                </a:solidFill>
              </a:rPr>
              <a:t>CUDA does not guarantee a large end-to-end speedup because the visual app includes rendering and synchronization.
</a:t>
            </a:r>
            <a:r>
              <a:rPr lang="en-US" sz="1500" b="1" dirty="0">
                <a:solidFill>
                  <a:srgbClr val="22D3EE"/>
                </a:solidFill>
              </a:rPr>
              <a:t>• </a:t>
            </a:r>
            <a:r>
              <a:rPr lang="en-US" sz="1500" dirty="0">
                <a:solidFill>
                  <a:srgbClr val="F8FAFC"/>
                </a:solidFill>
              </a:rPr>
              <a:t>At high counts, both paths are constrained by the full application loop.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</a:rPr>
              <a:t>Visual runtime components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7B0BF"/>
                </a:solidFill>
              </a:rPr>
              <a:t>Rendering becomes a major contributor to frame cost as particle count increases.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0972800" cy="5257800"/>
          </a:xfrm>
          <a:prstGeom prst="roundRect">
            <a:avLst>
              <a:gd name="adj" fmla="val 870"/>
            </a:avLst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report_figures/fig_visual_compon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1180" y="1216152"/>
            <a:ext cx="8519160" cy="51114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</a:rPr>
              <a:t>Visual particle update runtime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7B0BF"/>
                </a:solidFill>
              </a:rPr>
              <a:t>Live CUDA update includes transfer, kernel launch, synchronization, and copy-back.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7315200" cy="5257800"/>
          </a:xfrm>
          <a:prstGeom prst="roundRect">
            <a:avLst>
              <a:gd name="adj" fmla="val 870"/>
            </a:avLst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report_figures/fig_visual_particle_upd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666951"/>
            <a:ext cx="7168896" cy="43013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0" y="1463040"/>
            <a:ext cx="3291840" cy="3840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• </a:t>
            </a:r>
            <a:r>
              <a:rPr lang="en-US" sz="1500" dirty="0">
                <a:solidFill>
                  <a:srgbClr val="F8FAFC"/>
                </a:solidFill>
              </a:rPr>
              <a:t>The visual CUDA particle update is not a pure kernel timing.
</a:t>
            </a:r>
            <a:r>
              <a:rPr lang="en-US" sz="1500" b="1" dirty="0">
                <a:solidFill>
                  <a:srgbClr val="22D3EE"/>
                </a:solidFill>
              </a:rPr>
              <a:t>• </a:t>
            </a:r>
            <a:r>
              <a:rPr lang="en-US" sz="1500" dirty="0">
                <a:solidFill>
                  <a:srgbClr val="F8FAFC"/>
                </a:solidFill>
              </a:rPr>
              <a:t>The H2D/D2H copies are required because the renderer consumes host-side particles.
</a:t>
            </a:r>
            <a:r>
              <a:rPr lang="en-US" sz="1500" b="1" dirty="0">
                <a:solidFill>
                  <a:srgbClr val="22D3EE"/>
                </a:solidFill>
              </a:rPr>
              <a:t>• </a:t>
            </a:r>
            <a:r>
              <a:rPr lang="en-US" sz="1500" dirty="0">
                <a:solidFill>
                  <a:srgbClr val="F8FAFC"/>
                </a:solidFill>
              </a:rPr>
              <a:t>This explains why visual CUDA can trail the CPU at larger counts.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</a:rPr>
              <a:t>Visual stress-test outcomes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7B0BF"/>
                </a:solidFill>
              </a:rPr>
              <a:t>The largest visual runs were treated as timing-harness failures rather than valid quantitative timing.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7406640" cy="4892040"/>
          </a:xfrm>
          <a:prstGeom prst="roundRect">
            <a:avLst>
              <a:gd name="adj" fmla="val 935"/>
            </a:avLst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report_figures/fig_visual_outco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502359"/>
            <a:ext cx="7260336" cy="43562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75320" y="1554480"/>
            <a:ext cx="3246120" cy="3749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• </a:t>
            </a:r>
            <a:r>
              <a:rPr lang="en-US" sz="1500" dirty="0">
                <a:solidFill>
                  <a:srgbClr val="F8FAFC"/>
                </a:solidFill>
              </a:rPr>
              <a:t>Runs through 200k particles produced valid timing results.
</a:t>
            </a:r>
            <a:r>
              <a:rPr lang="en-US" sz="1500" b="1" dirty="0">
                <a:solidFill>
                  <a:srgbClr val="22D3EE"/>
                </a:solidFill>
              </a:rPr>
              <a:t>• </a:t>
            </a:r>
            <a:r>
              <a:rPr lang="en-US" sz="1500" dirty="0">
                <a:solidFill>
                  <a:srgbClr val="F8FAFC"/>
                </a:solidFill>
              </a:rPr>
              <a:t>500k and 1M visual runs exceeded the practical timing harness limits.
</a:t>
            </a:r>
            <a:r>
              <a:rPr lang="en-US" sz="1500" b="1" dirty="0">
                <a:solidFill>
                  <a:srgbClr val="22D3EE"/>
                </a:solidFill>
              </a:rPr>
              <a:t>• </a:t>
            </a:r>
            <a:r>
              <a:rPr lang="en-US" sz="1500" dirty="0">
                <a:solidFill>
                  <a:srgbClr val="F8FAFC"/>
                </a:solidFill>
              </a:rPr>
              <a:t>These rows are useful stress-test evidence, but not used as quantitative speedup claims.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3317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8FAFC"/>
                </a:solidFill>
              </a:rPr>
              <a:t>Headless benchmark results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371600" y="315468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A7B0BF"/>
                </a:solidFill>
              </a:rPr>
              <a:t>OpenGL disabled: update-loop cost is isolated from rendering.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</a:rPr>
              <a:t>Headless throughput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7B0BF"/>
                </a:solidFill>
              </a:rPr>
              <a:t>CPU wins tiny workloads; CUDA becomes favorable once particle count is large enough.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7498080" cy="5257800"/>
          </a:xfrm>
          <a:prstGeom prst="roundRect">
            <a:avLst>
              <a:gd name="adj" fmla="val 870"/>
            </a:avLst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report_figures/fig_headless_f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612087"/>
            <a:ext cx="7351776" cy="44110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21040" y="1508760"/>
            <a:ext cx="3154680" cy="3566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• </a:t>
            </a:r>
            <a:r>
              <a:rPr lang="en-US" sz="1500" dirty="0">
                <a:solidFill>
                  <a:srgbClr val="F8FAFC"/>
                </a:solidFill>
              </a:rPr>
              <a:t>At small particle counts, CPU avoids GPU launch/transfer overhead.
</a:t>
            </a:r>
            <a:r>
              <a:rPr lang="en-US" sz="1500" b="1" dirty="0">
                <a:solidFill>
                  <a:srgbClr val="22D3EE"/>
                </a:solidFill>
              </a:rPr>
              <a:t>• </a:t>
            </a:r>
            <a:r>
              <a:rPr lang="en-US" sz="1500" dirty="0">
                <a:solidFill>
                  <a:srgbClr val="F8FAFC"/>
                </a:solidFill>
              </a:rPr>
              <a:t>CUDA throughput becomes better as work per step increases.
</a:t>
            </a:r>
            <a:r>
              <a:rPr lang="en-US" sz="1500" b="1" dirty="0">
                <a:solidFill>
                  <a:srgbClr val="22D3EE"/>
                </a:solidFill>
              </a:rPr>
              <a:t>• </a:t>
            </a:r>
            <a:r>
              <a:rPr lang="en-US" sz="1500" dirty="0">
                <a:solidFill>
                  <a:srgbClr val="F8FAFC"/>
                </a:solidFill>
              </a:rPr>
              <a:t>This benchmark supports the main performance conclusion.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</a:rPr>
              <a:t>Headless particle-update runtime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7B0BF"/>
                </a:solidFill>
              </a:rPr>
              <a:t>The isolated update loop shows the CUDA scaling advantage clearly.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7498080" cy="5257800"/>
          </a:xfrm>
          <a:prstGeom prst="roundRect">
            <a:avLst>
              <a:gd name="adj" fmla="val 870"/>
            </a:avLst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report_figures/fig_headless_particle_upd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612087"/>
            <a:ext cx="7351776" cy="44110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58200" y="1417320"/>
            <a:ext cx="2651760" cy="987552"/>
          </a:xfrm>
          <a:prstGeom prst="roundRect">
            <a:avLst>
              <a:gd name="adj" fmla="val 7407"/>
            </a:avLst>
          </a:prstGeom>
          <a:solidFill>
            <a:srgbClr val="111827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458200" y="15544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8BDF8"/>
                </a:solidFill>
              </a:rPr>
              <a:t>7.427 ms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8531352" y="2039112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A7B0BF"/>
                </a:solidFill>
              </a:rPr>
              <a:t>CPU update at 200k particles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8458200" y="2606040"/>
            <a:ext cx="2651760" cy="987552"/>
          </a:xfrm>
          <a:prstGeom prst="roundRect">
            <a:avLst>
              <a:gd name="adj" fmla="val 7407"/>
            </a:avLst>
          </a:prstGeom>
          <a:solidFill>
            <a:srgbClr val="111827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458200" y="27432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</a:rPr>
              <a:t>1.967 ms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8531352" y="3227832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A7B0BF"/>
                </a:solidFill>
              </a:rPr>
              <a:t>CUDA update at 200k particles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8458200" y="3794760"/>
            <a:ext cx="2651760" cy="987552"/>
          </a:xfrm>
          <a:prstGeom prst="roundRect">
            <a:avLst>
              <a:gd name="adj" fmla="val 7407"/>
            </a:avLst>
          </a:prstGeom>
          <a:solidFill>
            <a:srgbClr val="111827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458200" y="39319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4D399"/>
                </a:solidFill>
              </a:rPr>
              <a:t>3.78×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8531352" y="4416552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A7B0BF"/>
                </a:solidFill>
              </a:rPr>
              <a:t>CUDA speedup at 200k particles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</a:rPr>
              <a:t>Headless CUDA speedup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7B0BF"/>
                </a:solidFill>
              </a:rPr>
              <a:t>The crossover occurs after the workload is large enough to overcome GPU overhead.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7498080" cy="5257800"/>
          </a:xfrm>
          <a:prstGeom prst="roundRect">
            <a:avLst>
              <a:gd name="adj" fmla="val 870"/>
            </a:avLst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report_figures/fig_headless_speed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612087"/>
            <a:ext cx="7351776" cy="44110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21040" y="1508760"/>
            <a:ext cx="3108960" cy="3749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• </a:t>
            </a:r>
            <a:r>
              <a:rPr lang="en-US" sz="1500" dirty="0">
                <a:solidFill>
                  <a:srgbClr val="F8FAFC"/>
                </a:solidFill>
              </a:rPr>
              <a:t>Below the crossover, CPU overhead is lower.
</a:t>
            </a:r>
            <a:r>
              <a:rPr lang="en-US" sz="1500" b="1" dirty="0">
                <a:solidFill>
                  <a:srgbClr val="22D3EE"/>
                </a:solidFill>
              </a:rPr>
              <a:t>• </a:t>
            </a:r>
            <a:r>
              <a:rPr lang="en-US" sz="1500" dirty="0">
                <a:solidFill>
                  <a:srgbClr val="F8FAFC"/>
                </a:solidFill>
              </a:rPr>
              <a:t>Above the crossover, particle-level parallelism increasingly favors CUDA.
</a:t>
            </a:r>
            <a:r>
              <a:rPr lang="en-US" sz="1500" b="1" dirty="0">
                <a:solidFill>
                  <a:srgbClr val="22D3EE"/>
                </a:solidFill>
              </a:rPr>
              <a:t>• </a:t>
            </a:r>
            <a:r>
              <a:rPr lang="en-US" sz="1500" dirty="0">
                <a:solidFill>
                  <a:srgbClr val="F8FAFC"/>
                </a:solidFill>
              </a:rPr>
              <a:t>This is the most important project result.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</a:rPr>
              <a:t>Headless update runtime by protocol step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7B0BF"/>
                </a:solidFill>
              </a:rPr>
              <a:t>CUDA scaling advantage was consistent across load, concentrate, wash, harvest, and protocol runs.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5257800"/>
          </a:xfrm>
          <a:prstGeom prst="roundRect">
            <a:avLst>
              <a:gd name="adj" fmla="val 870"/>
            </a:avLst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particle_update_runtime_by_st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778669"/>
            <a:ext cx="11055096" cy="198646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</a:rPr>
              <a:t>Headless sanity check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7B0BF"/>
                </a:solidFill>
              </a:rPr>
              <a:t>Render/swap/poll time is eliminated in headless mode.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5349240" cy="4846320"/>
          </a:xfrm>
          <a:prstGeom prst="roundRect">
            <a:avLst>
              <a:gd name="adj" fmla="val 943"/>
            </a:avLst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full_frame_runtime_vs_partic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049484"/>
            <a:ext cx="5202936" cy="30333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63640" y="1143000"/>
            <a:ext cx="5349240" cy="4846320"/>
          </a:xfrm>
          <a:prstGeom prst="roundRect">
            <a:avLst>
              <a:gd name="adj" fmla="val 943"/>
            </a:avLst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/mnt/data/render_runtime_vs_partic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2049484"/>
            <a:ext cx="5202936" cy="30333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5989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7B0BF"/>
                </a:solidFill>
              </a:rPr>
              <a:t>Headless full-frame time is effectively update-loop time; render runtime is 0 ms/frame.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</a:rPr>
              <a:t>What the results mean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7B0BF"/>
                </a:solidFill>
              </a:rPr>
              <a:t>The answer depends on what was measured.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2743200" cy="1078992"/>
          </a:xfrm>
          <a:prstGeom prst="roundRect">
            <a:avLst>
              <a:gd name="adj" fmla="val 1695"/>
            </a:avLst>
          </a:prstGeom>
          <a:solidFill>
            <a:srgbClr val="162033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Question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10712" y="1325880"/>
            <a:ext cx="2468880" cy="1078992"/>
          </a:xfrm>
          <a:prstGeom prst="roundRect">
            <a:avLst>
              <a:gd name="adj" fmla="val 1695"/>
            </a:avLst>
          </a:prstGeom>
          <a:solidFill>
            <a:srgbClr val="162033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56432" y="13716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Best benchmark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07024" y="1325880"/>
            <a:ext cx="5806440" cy="1078992"/>
          </a:xfrm>
          <a:prstGeom prst="roundRect">
            <a:avLst>
              <a:gd name="adj" fmla="val 1695"/>
            </a:avLst>
          </a:prstGeom>
          <a:solidFill>
            <a:srgbClr val="162033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52744" y="1371600"/>
            <a:ext cx="5715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Conclusion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423160"/>
            <a:ext cx="2743200" cy="1078992"/>
          </a:xfrm>
          <a:prstGeom prst="roundRect">
            <a:avLst>
              <a:gd name="adj" fmla="val 1695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24688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How fast is the full interactive app?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10712" y="2423160"/>
            <a:ext cx="2468880" cy="1078992"/>
          </a:xfrm>
          <a:prstGeom prst="roundRect">
            <a:avLst>
              <a:gd name="adj" fmla="val 1695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56432" y="24688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Visual benchmark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07024" y="2423160"/>
            <a:ext cx="5806440" cy="1078992"/>
          </a:xfrm>
          <a:prstGeom prst="roundRect">
            <a:avLst>
              <a:gd name="adj" fmla="val 1695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52744" y="2468880"/>
            <a:ext cx="5715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CUDA helped only modestly because rendering and CPU/GPU coordination remained in the loop.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2743200" cy="1078992"/>
          </a:xfrm>
          <a:prstGeom prst="roundRect">
            <a:avLst>
              <a:gd name="adj" fmla="val 1695"/>
            </a:avLst>
          </a:prstGeom>
          <a:solidFill>
            <a:srgbClr val="111827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356616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How fast is the particle update itself?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10712" y="3520440"/>
            <a:ext cx="2468880" cy="1078992"/>
          </a:xfrm>
          <a:prstGeom prst="roundRect">
            <a:avLst>
              <a:gd name="adj" fmla="val 1695"/>
            </a:avLst>
          </a:prstGeom>
          <a:solidFill>
            <a:srgbClr val="111827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56432" y="35661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Headless benchmark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07024" y="3520440"/>
            <a:ext cx="5806440" cy="1078992"/>
          </a:xfrm>
          <a:prstGeom prst="roundRect">
            <a:avLst>
              <a:gd name="adj" fmla="val 1695"/>
            </a:avLst>
          </a:prstGeom>
          <a:solidFill>
            <a:srgbClr val="111827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52744" y="3566160"/>
            <a:ext cx="5715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CUDA became increasingly favorable at larger particle counts.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617720"/>
            <a:ext cx="2743200" cy="1078992"/>
          </a:xfrm>
          <a:prstGeom prst="roundRect">
            <a:avLst>
              <a:gd name="adj" fmla="val 1695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5800" y="46634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Was CUDA worth using here?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10712" y="4617720"/>
            <a:ext cx="2468880" cy="1078992"/>
          </a:xfrm>
          <a:prstGeom prst="roundRect">
            <a:avLst>
              <a:gd name="adj" fmla="val 1695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56432" y="46634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Both together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07024" y="4617720"/>
            <a:ext cx="5806440" cy="1078992"/>
          </a:xfrm>
          <a:prstGeom prst="roundRect">
            <a:avLst>
              <a:gd name="adj" fmla="val 1695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952744" y="4663440"/>
            <a:ext cx="5715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Yes for high-count update workloads; less so if data movement and rendering dominate.</a:t>
            </a:r>
            <a:endParaRPr lang="en-US" sz="12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</a:rPr>
              <a:t>Limitations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7B0BF"/>
                </a:solidFill>
              </a:rPr>
              <a:t>The project is a GPU simulation and visualization tool, not a validated process-development model.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60704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2D3EE"/>
                </a:solidFill>
              </a:rPr>
              <a:t>• </a:t>
            </a:r>
            <a:r>
              <a:rPr lang="en-US" sz="1900" dirty="0">
                <a:solidFill>
                  <a:srgbClr val="F8FAFC"/>
                </a:solidFill>
              </a:rPr>
              <a:t>Simulation uses normalized units rather than calibrated SI units.
</a:t>
            </a:r>
            <a:r>
              <a:rPr lang="en-US" sz="1900" b="1" dirty="0">
                <a:solidFill>
                  <a:srgbClr val="22D3EE"/>
                </a:solidFill>
              </a:rPr>
              <a:t>• </a:t>
            </a:r>
            <a:r>
              <a:rPr lang="en-US" sz="1900" dirty="0">
                <a:solidFill>
                  <a:srgbClr val="F8FAFC"/>
                </a:solidFill>
              </a:rPr>
              <a:t>The fluid field is approximated rather than solved with CFD.
</a:t>
            </a:r>
            <a:r>
              <a:rPr lang="en-US" sz="1900" b="1" dirty="0">
                <a:solidFill>
                  <a:srgbClr val="22D3EE"/>
                </a:solidFill>
              </a:rPr>
              <a:t>• </a:t>
            </a:r>
            <a:r>
              <a:rPr lang="en-US" sz="1900" dirty="0">
                <a:solidFill>
                  <a:srgbClr val="F8FAFC"/>
                </a:solidFill>
              </a:rPr>
              <a:t>No experimental validation against bead/cell Rotea runs was performed.
</a:t>
            </a:r>
            <a:r>
              <a:rPr lang="en-US" sz="1900" b="1" dirty="0">
                <a:solidFill>
                  <a:srgbClr val="22D3EE"/>
                </a:solidFill>
              </a:rPr>
              <a:t>• </a:t>
            </a:r>
            <a:r>
              <a:rPr lang="en-US" sz="1900" dirty="0">
                <a:solidFill>
                  <a:srgbClr val="F8FAFC"/>
                </a:solidFill>
              </a:rPr>
              <a:t>Live CUDA mode still copies particles between CPU and GPU each frame.
</a:t>
            </a:r>
            <a:r>
              <a:rPr lang="en-US" sz="1900" b="1" dirty="0">
                <a:solidFill>
                  <a:srgbClr val="22D3EE"/>
                </a:solidFill>
              </a:rPr>
              <a:t>• </a:t>
            </a:r>
            <a:r>
              <a:rPr lang="en-US" sz="1900" dirty="0">
                <a:solidFill>
                  <a:srgbClr val="F8FAFC"/>
                </a:solidFill>
              </a:rPr>
              <a:t>CUDA/OpenGL interoperability was identified but not implemented.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</a:rPr>
              <a:t>Future 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7B0BF"/>
                </a:solidFill>
              </a:rPr>
              <a:t>The next best improvement is architectural, not just another kernel tweak.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1069848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</a:rPr>
              <a:t>• </a:t>
            </a:r>
            <a:r>
              <a:rPr lang="en-US" sz="1800" dirty="0">
                <a:solidFill>
                  <a:srgbClr val="F8FAFC"/>
                </a:solidFill>
              </a:rPr>
              <a:t>Use CUDA/OpenGL interoperability so CUDA updates an OpenGL vertex buffer directly.
</a:t>
            </a:r>
            <a:r>
              <a:rPr lang="en-US" sz="1800" b="1" dirty="0">
                <a:solidFill>
                  <a:srgbClr val="22D3EE"/>
                </a:solidFill>
              </a:rPr>
              <a:t>• </a:t>
            </a:r>
            <a:r>
              <a:rPr lang="en-US" sz="1800" dirty="0">
                <a:solidFill>
                  <a:srgbClr val="F8FAFC"/>
                </a:solidFill>
              </a:rPr>
              <a:t>Move from array-of-structures to structure-of-arrays for better coalescing.
</a:t>
            </a:r>
            <a:r>
              <a:rPr lang="en-US" sz="1800" b="1" dirty="0">
                <a:solidFill>
                  <a:srgbClr val="22D3EE"/>
                </a:solidFill>
              </a:rPr>
              <a:t>• </a:t>
            </a:r>
            <a:r>
              <a:rPr lang="en-US" sz="1800" dirty="0">
                <a:solidFill>
                  <a:srgbClr val="F8FAFC"/>
                </a:solidFill>
              </a:rPr>
              <a:t>Add CUDA event timing to live mode for finer performance measurement.
</a:t>
            </a:r>
            <a:r>
              <a:rPr lang="en-US" sz="1800" b="1" dirty="0">
                <a:solidFill>
                  <a:srgbClr val="22D3EE"/>
                </a:solidFill>
              </a:rPr>
              <a:t>• </a:t>
            </a:r>
            <a:r>
              <a:rPr lang="en-US" sz="1800" dirty="0">
                <a:solidFill>
                  <a:srgbClr val="F8FAFC"/>
                </a:solidFill>
              </a:rPr>
              <a:t>Calibrate geometry, flow, and angular velocity with real physical units.
</a:t>
            </a:r>
            <a:r>
              <a:rPr lang="en-US" sz="1800" b="1" dirty="0">
                <a:solidFill>
                  <a:srgbClr val="22D3EE"/>
                </a:solidFill>
              </a:rPr>
              <a:t>• </a:t>
            </a:r>
            <a:r>
              <a:rPr lang="en-US" sz="1800" dirty="0">
                <a:solidFill>
                  <a:srgbClr val="F8FAFC"/>
                </a:solidFill>
              </a:rPr>
              <a:t>Compare simulation outputs against bead or cell-processing runs.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5486400"/>
            <a:ext cx="10332720" cy="411480"/>
          </a:xfrm>
          <a:prstGeom prst="roundRect">
            <a:avLst>
              <a:gd name="adj" fmla="val 17778"/>
            </a:avLst>
          </a:prstGeom>
          <a:solidFill>
            <a:srgbClr val="162033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51560" y="5596128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8FAFC"/>
                </a:solidFill>
              </a:rPr>
              <a:t>Current: CPU particles → GPU update → CPU copy-back → OpenGL render    |    Future: CUDA updates GPU-resident OpenGL buffer directly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</a:rPr>
              <a:t>Final lesson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7B0BF"/>
                </a:solidFill>
              </a:rPr>
              <a:t>CUDA is not automatically faster — architecture decides whether parallelism becomes performance.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68680" y="1371600"/>
            <a:ext cx="10515600" cy="3383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22D3EE"/>
                </a:solidFill>
              </a:rPr>
              <a:t>• </a:t>
            </a:r>
            <a:r>
              <a:rPr lang="en-US" sz="2100" dirty="0">
                <a:solidFill>
                  <a:srgbClr val="F8FAFC"/>
                </a:solidFill>
              </a:rPr>
              <a:t>The visual benchmark showed why end-to-end speedup can be limited by rendering, transfer, and synchronization.
</a:t>
            </a:r>
            <a:r>
              <a:rPr lang="en-US" sz="2100" b="1" dirty="0">
                <a:solidFill>
                  <a:srgbClr val="22D3EE"/>
                </a:solidFill>
              </a:rPr>
              <a:t>• </a:t>
            </a:r>
            <a:r>
              <a:rPr lang="en-US" sz="2100" dirty="0">
                <a:solidFill>
                  <a:srgbClr val="F8FAFC"/>
                </a:solidFill>
              </a:rPr>
              <a:t>The headless benchmark showed that the CUDA particle update scales better once the workload is large enough.
</a:t>
            </a:r>
            <a:r>
              <a:rPr lang="en-US" sz="2100" b="1" dirty="0">
                <a:solidFill>
                  <a:srgbClr val="22D3EE"/>
                </a:solidFill>
              </a:rPr>
              <a:t>• </a:t>
            </a:r>
            <a:r>
              <a:rPr lang="en-US" sz="2100" dirty="0">
                <a:solidFill>
                  <a:srgbClr val="F8FAFC"/>
                </a:solidFill>
              </a:rPr>
              <a:t>The practical lesson is knowing when to use CUDA, and when data movement or application structure will hide the benefit.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68680" y="52120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34D399"/>
                </a:solidFill>
              </a:rPr>
              <a:t>Know when to use CUDA — and when not to.</a:t>
            </a:r>
            <a:endParaRPr lang="en-US" sz="2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945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>
                <a:solidFill>
                  <a:srgbClr val="F8FAFC"/>
                </a:solidFill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828800" y="31546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7B0BF"/>
                </a:solidFill>
              </a:rPr>
              <a:t>Rotea-inspired CUDA/OpenGL particle simulation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828800" y="36576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D3EE"/>
                </a:solidFill>
              </a:rPr>
              <a:t>Dylan Renard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1582</Words>
  <Application>Microsoft Office PowerPoint</Application>
  <PresentationFormat>Widescreen</PresentationFormat>
  <Paragraphs>219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Johns Hopkins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Rotea Cell Washer GPU Simulation</dc:title>
  <dc:subject>Rotea-inspired CUDA/OpenGL particle simulation</dc:subject>
  <dc:creator>Dylan Renard</dc:creator>
  <cp:lastModifiedBy>dylan renard</cp:lastModifiedBy>
  <cp:revision>2</cp:revision>
  <dcterms:created xsi:type="dcterms:W3CDTF">2026-05-03T22:35:14Z</dcterms:created>
  <dcterms:modified xsi:type="dcterms:W3CDTF">2026-05-03T22:43:43Z</dcterms:modified>
</cp:coreProperties>
</file>